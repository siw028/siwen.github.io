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4F71AE-FACE-4DB9-B871-AC14F33069FF}" type="datetimeFigureOut">
              <a:rPr lang="zh-CN" altLang="en-US" smtClean="0"/>
              <a:t>2025/10/10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D018F3-F7D3-4D26-8124-82D90CDA05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53119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D018F3-F7D3-4D26-8124-82D90CDA057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72923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9A44CA-6E18-1A87-D3DC-1D4C360BE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238830-174D-CA25-AAD8-4B4770C6BA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196030-4D79-10F9-3817-2BB92D85BF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C34232-F05B-9A3C-8454-01E5976322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D018F3-F7D3-4D26-8124-82D90CDA057F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32427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D018F3-F7D3-4D26-8124-82D90CDA057F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94092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2.7.4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D018F3-F7D3-4D26-8124-82D90CDA057F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55214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2.7.4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D018F3-F7D3-4D26-8124-82D90CDA057F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63340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-32</a:t>
            </a:r>
          </a:p>
          <a:p>
            <a:r>
              <a:rPr lang="en-US" altLang="zh-CN" dirty="0"/>
              <a:t>-2</a:t>
            </a:r>
          </a:p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D018F3-F7D3-4D26-8124-82D90CDA057F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27673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2.8.6 show import scanner</a:t>
            </a:r>
          </a:p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D018F3-F7D3-4D26-8124-82D90CDA057F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67148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D018F3-F7D3-4D26-8124-82D90CDA057F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41903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F91B7-B6D4-FA94-29D6-26242F1968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4ABFC1-F7F9-760A-DE30-E5AD287D5F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B670CF-A4AD-8D93-3D6D-56062299A6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2E7CC-E1EA-4EDB-A11B-9EBE68CA3B7D}" type="datetimeFigureOut">
              <a:rPr lang="zh-CN" altLang="en-US" smtClean="0"/>
              <a:t>2025/10/10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08926D-1477-B65B-72FB-39A541104D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E86327-C60F-06AC-0132-5DFB319EB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B3928-B95B-4E78-BB9C-8623FABCE9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77906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53454-65DA-9CED-D73D-17E57990C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B926B4-CD0B-248C-BA6B-CD3ADD7A5B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11B92A-DF2E-8F1B-B25E-C56EF23FD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2E7CC-E1EA-4EDB-A11B-9EBE68CA3B7D}" type="datetimeFigureOut">
              <a:rPr lang="zh-CN" altLang="en-US" smtClean="0"/>
              <a:t>2025/10/10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7F6A3D-36CD-5F96-FA69-99675E5BC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A11DCD-F4C1-1E8B-9326-B97527FFA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B3928-B95B-4E78-BB9C-8623FABCE9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84516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AB638-26D8-D905-79C2-254BB2839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A2893F-FFD4-5F2B-2335-DA9F8F5E69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44D82F-1770-6FAE-F691-2F2A666DE7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2E7CC-E1EA-4EDB-A11B-9EBE68CA3B7D}" type="datetimeFigureOut">
              <a:rPr lang="zh-CN" altLang="en-US" smtClean="0"/>
              <a:t>2025/10/10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886CBE-6A70-DA1D-6853-D76D7C267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26F826-C9C5-BBC7-B30E-2289C2114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B3928-B95B-4E78-BB9C-8623FABCE9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54586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864EC-C7D9-5966-4B35-5F4AC0E51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08D25D-B265-BFF8-25F7-83BA3E1AD7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8420DF-5428-E381-46E5-B9EF4DF435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CEFA2D-0FBB-A8F7-3CAE-D547C4322D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2E7CC-E1EA-4EDB-A11B-9EBE68CA3B7D}" type="datetimeFigureOut">
              <a:rPr lang="zh-CN" altLang="en-US" smtClean="0"/>
              <a:t>2025/10/10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D07F09-DE95-8753-8FB2-B2E8A9A9F2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67D9E4-5649-CAD5-5A90-74F82D3AC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B3928-B95B-4E78-BB9C-8623FABCE9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47100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77B73-0673-E231-841D-ACFA690D2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E70B6A-9D50-ACCB-8E58-DBAD35D03B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BBB5D7-C644-523F-CAA9-04268F954C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69AC4B-B483-A19D-F862-A07D058584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BC0552-6786-4DA8-9493-B63B89AF4E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1AF427-E765-4F31-C876-6A7A36C50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2E7CC-E1EA-4EDB-A11B-9EBE68CA3B7D}" type="datetimeFigureOut">
              <a:rPr lang="zh-CN" altLang="en-US" smtClean="0"/>
              <a:t>2025/10/10</a:t>
            </a:fld>
            <a:endParaRPr lang="zh-CN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867DDA0-A588-D491-85F5-D572A0EE4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4C8A11-321E-A120-935E-195A86C45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B3928-B95B-4E78-BB9C-8623FABCE9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37838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0300C-62ED-9CBB-8CC9-BBFBAC054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974353-EE99-2027-A22E-32202DBF5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2E7CC-E1EA-4EDB-A11B-9EBE68CA3B7D}" type="datetimeFigureOut">
              <a:rPr lang="zh-CN" altLang="en-US" smtClean="0"/>
              <a:t>2025/10/10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66E541-3E28-F082-52A7-0F7B9BE75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1387A2-A7DA-1F82-1864-EE664B33A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B3928-B95B-4E78-BB9C-8623FABCE9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54446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87978A-66C2-68BE-33A2-85E121135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2E7CC-E1EA-4EDB-A11B-9EBE68CA3B7D}" type="datetimeFigureOut">
              <a:rPr lang="zh-CN" altLang="en-US" smtClean="0"/>
              <a:t>2025/10/10</a:t>
            </a:fld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B16A6C-E2D7-D0F2-283E-E7B383E99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F74429-FE97-7394-0680-56684F522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B3928-B95B-4E78-BB9C-8623FABCE9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66965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5CE21-F67F-DD3C-4C71-131EFE476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64B935-B52D-15D7-5A21-7C44A39E16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98860E-7456-FC08-2626-F9618A2D48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1B8AA7-C58D-C728-FFA8-7EC4C4459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2E7CC-E1EA-4EDB-A11B-9EBE68CA3B7D}" type="datetimeFigureOut">
              <a:rPr lang="zh-CN" altLang="en-US" smtClean="0"/>
              <a:t>2025/10/10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CC66F4-E7AB-5097-4F50-7E4E9E83D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D739EB-93E1-005D-8CE5-3FFA1972B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B3928-B95B-4E78-BB9C-8623FABCE9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72395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2A08D-7E9D-366C-44A5-F517F8E23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95DD85D-2036-A3C3-83FB-5C522C5E21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7E35DB-DA64-1DB8-25A4-019A765FC2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99B455-FF14-B7F0-32E4-6242B2D35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2E7CC-E1EA-4EDB-A11B-9EBE68CA3B7D}" type="datetimeFigureOut">
              <a:rPr lang="zh-CN" altLang="en-US" smtClean="0"/>
              <a:t>2025/10/10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CB56D6-0BC1-DB3C-F09A-018BA19E0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4C7382-3B35-B5B1-C143-BE37E5AFD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B3928-B95B-4E78-BB9C-8623FABCE9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43438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EC9FB-D3C8-C867-8048-5CC64C269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41C29F-07DE-4ED8-0E6F-556C72A265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458051-51DE-1F71-3726-29D3F6CC7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2E7CC-E1EA-4EDB-A11B-9EBE68CA3B7D}" type="datetimeFigureOut">
              <a:rPr lang="zh-CN" altLang="en-US" smtClean="0"/>
              <a:t>2025/10/10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100120-1C52-853D-0480-419A561F5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452FDC-2AAD-C46A-5B9F-27C14D85F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B3928-B95B-4E78-BB9C-8623FABCE9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32304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43C80F5-7B70-9777-1163-850477DB1A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584B1E-2C8F-D224-F9AA-5CBE492F05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2C8154-194F-87C9-1FDB-ECC4011EC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2E7CC-E1EA-4EDB-A11B-9EBE68CA3B7D}" type="datetimeFigureOut">
              <a:rPr lang="zh-CN" altLang="en-US" smtClean="0"/>
              <a:t>2025/10/10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7FB8D8-0C01-4A3E-E986-A9ED60B08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6797DA-FF3E-4828-C2D5-2E86A5170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B3928-B95B-4E78-BB9C-8623FABCE9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2476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014764-92F1-33C6-350E-7BEFD61A5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A0947C-CBD9-4A51-AD5B-CC81F208FF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DC894C-B298-9FDD-F440-47CA3DCBEB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22E7CC-E1EA-4EDB-A11B-9EBE68CA3B7D}" type="datetimeFigureOut">
              <a:rPr lang="zh-CN" altLang="en-US" smtClean="0"/>
              <a:t>2025/10/10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E8BD1B-2D96-4AE4-0BFA-8A47B4CA1B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6E1FA4-3A0F-738C-8806-0B5E513055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EB3928-B95B-4E78-BB9C-8623FABCE9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98426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606F0-5639-F839-048C-FBC845B1425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5083AC-BC69-7BC1-B61D-D60AEFDC2E9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52920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65EAE-88FE-0A70-989B-51E071074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Unit 2 Overview	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207F64-D105-9379-8081-AB5A47C254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/>
              <a:t>Object-Oriented Programming </a:t>
            </a:r>
            <a:r>
              <a:rPr lang="en-US" altLang="zh-CN" dirty="0"/>
              <a:t>(OOP): A core feature of Java, which you can created digital blueprint called </a:t>
            </a:r>
            <a:r>
              <a:rPr lang="en-US" altLang="zh-CN" b="1" dirty="0"/>
              <a:t>classes</a:t>
            </a:r>
            <a:r>
              <a:rPr lang="en-US" altLang="zh-CN" dirty="0"/>
              <a:t> for various things, such as cars, bank account etc. An </a:t>
            </a:r>
            <a:r>
              <a:rPr lang="en-US" altLang="zh-CN" b="1" dirty="0"/>
              <a:t>object</a:t>
            </a:r>
            <a:r>
              <a:rPr lang="en-US" altLang="zh-CN" dirty="0"/>
              <a:t> is an instance of a class.</a:t>
            </a:r>
          </a:p>
          <a:p>
            <a:r>
              <a:rPr lang="en-US" altLang="zh-CN" b="1" dirty="0"/>
              <a:t>Classes: </a:t>
            </a:r>
            <a:r>
              <a:rPr lang="en-US" altLang="zh-CN" dirty="0"/>
              <a:t>A template or blueprint </a:t>
            </a:r>
          </a:p>
          <a:p>
            <a:r>
              <a:rPr lang="en-US" altLang="zh-CN" b="1" dirty="0"/>
              <a:t>Objects: </a:t>
            </a:r>
            <a:r>
              <a:rPr lang="en-US" altLang="zh-CN" dirty="0"/>
              <a:t>Instances of a class</a:t>
            </a:r>
            <a:endParaRPr lang="zh-CN" altLang="en-US" dirty="0"/>
          </a:p>
        </p:txBody>
      </p:sp>
      <p:pic>
        <p:nvPicPr>
          <p:cNvPr id="5" name="Picture 4" descr="A diagram of a car&#10;&#10;AI-generated content may be incorrect.">
            <a:extLst>
              <a:ext uri="{FF2B5EF4-FFF2-40B4-BE49-F238E27FC236}">
                <a16:creationId xmlns:a16="http://schemas.microsoft.com/office/drawing/2014/main" id="{1969D12F-98CD-0DC2-129C-A7B0EED712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4395" y="3545840"/>
            <a:ext cx="5221045" cy="2947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03390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537EC-8B69-35E1-5CFA-3EFAAC322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Class Structure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4EA647-2FE5-A143-49A1-F855B62765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A class consists of:</a:t>
            </a:r>
          </a:p>
          <a:p>
            <a:pPr lvl="1"/>
            <a:r>
              <a:rPr lang="en-US" altLang="zh-CN" dirty="0"/>
              <a:t>State (Instance Variables)</a:t>
            </a:r>
          </a:p>
          <a:p>
            <a:pPr lvl="1"/>
            <a:r>
              <a:rPr lang="en-US" altLang="zh-CN" dirty="0"/>
              <a:t>Constructor (Initialize state value)</a:t>
            </a:r>
          </a:p>
          <a:p>
            <a:pPr lvl="1"/>
            <a:r>
              <a:rPr lang="en-US" altLang="zh-CN" dirty="0"/>
              <a:t>Behavior (methods)</a:t>
            </a:r>
            <a:endParaRPr lang="zh-CN" altLang="en-US" dirty="0"/>
          </a:p>
        </p:txBody>
      </p:sp>
      <p:pic>
        <p:nvPicPr>
          <p:cNvPr id="9" name="Picture 8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D3FB65D7-53CE-69BA-6DDF-3E58A58DF9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161980"/>
            <a:ext cx="5906012" cy="3696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5221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203D4-E7F3-2E0C-FAA6-95B1284E78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2.2 Creating and Storing Objects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6F5193-A271-4599-9644-BF1B0718A3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Class: A template or blueprint </a:t>
            </a:r>
          </a:p>
          <a:p>
            <a:r>
              <a:rPr lang="en-US" altLang="zh-CN" dirty="0"/>
              <a:t>Objects: Instance of a class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519623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534746-6D56-6660-EE04-D1FBD3B675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D1105-D06D-3A56-08FC-C5D25B84C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Class Structure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6FC743-76E8-3A95-16FF-1494A05404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A class consists of:</a:t>
            </a:r>
          </a:p>
          <a:p>
            <a:pPr lvl="1"/>
            <a:r>
              <a:rPr lang="en-US" altLang="zh-CN" dirty="0"/>
              <a:t>State (Instance Variables)</a:t>
            </a:r>
          </a:p>
          <a:p>
            <a:pPr lvl="1"/>
            <a:r>
              <a:rPr lang="en-US" altLang="zh-CN" dirty="0"/>
              <a:t>Constructor (Initialize state value)</a:t>
            </a:r>
          </a:p>
          <a:p>
            <a:pPr lvl="1"/>
            <a:r>
              <a:rPr lang="en-US" altLang="zh-CN" dirty="0"/>
              <a:t>Behavior (methods)</a:t>
            </a:r>
            <a:endParaRPr lang="zh-CN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E60ED2-A8D5-3EB1-90A8-B9B8ED29F8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8400" y="2231012"/>
            <a:ext cx="5763811" cy="4403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0333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E201B3A-7A27-BB6B-3CCE-A0BFDAF5EC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597" y="259972"/>
            <a:ext cx="7930599" cy="605954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0A6D2BD-7F5D-6A09-7789-12732C129C5C}"/>
              </a:ext>
            </a:extLst>
          </p:cNvPr>
          <p:cNvSpPr txBox="1"/>
          <p:nvPr/>
        </p:nvSpPr>
        <p:spPr>
          <a:xfrm>
            <a:off x="8727440" y="345440"/>
            <a:ext cx="3098800" cy="72943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Key things to remember:</a:t>
            </a:r>
          </a:p>
          <a:p>
            <a:endParaRPr lang="en-US" altLang="zh-CN" dirty="0"/>
          </a:p>
          <a:p>
            <a:endParaRPr lang="en-US" altLang="zh-CN" dirty="0"/>
          </a:p>
          <a:p>
            <a:pPr marL="342900" indent="-342900">
              <a:buAutoNum type="arabicPeriod"/>
            </a:pPr>
            <a:r>
              <a:rPr lang="en-US" altLang="zh-CN" dirty="0"/>
              <a:t>Class name must match file name</a:t>
            </a:r>
          </a:p>
          <a:p>
            <a:pPr marL="342900" indent="-342900">
              <a:buAutoNum type="arabicPeriod"/>
            </a:pPr>
            <a:endParaRPr lang="en-US" altLang="zh-CN" dirty="0"/>
          </a:p>
          <a:p>
            <a:pPr marL="342900" indent="-342900">
              <a:buAutoNum type="arabicPeriod"/>
            </a:pPr>
            <a:endParaRPr lang="en-US" altLang="zh-CN" dirty="0"/>
          </a:p>
          <a:p>
            <a:pPr marL="342900" indent="-342900">
              <a:buAutoNum type="arabicPeriod"/>
            </a:pPr>
            <a:r>
              <a:rPr lang="en-US" altLang="zh-CN" dirty="0"/>
              <a:t>Constructor name must match class name, all instance variables should be initialized with a value</a:t>
            </a:r>
          </a:p>
          <a:p>
            <a:pPr marL="342900" indent="-342900">
              <a:buAutoNum type="arabicPeriod"/>
            </a:pPr>
            <a:endParaRPr lang="en-US" altLang="zh-CN" dirty="0"/>
          </a:p>
          <a:p>
            <a:pPr marL="342900" indent="-342900">
              <a:buAutoNum type="arabicPeriod"/>
            </a:pPr>
            <a:endParaRPr lang="en-US" altLang="zh-CN" dirty="0"/>
          </a:p>
          <a:p>
            <a:pPr marL="342900" indent="-342900">
              <a:buAutoNum type="arabicPeriod"/>
            </a:pPr>
            <a:endParaRPr lang="en-US" altLang="zh-CN" dirty="0"/>
          </a:p>
          <a:p>
            <a:pPr marL="342900" indent="-342900">
              <a:buAutoNum type="arabicPeriod"/>
            </a:pPr>
            <a:endParaRPr lang="en-US" altLang="zh-CN" dirty="0"/>
          </a:p>
          <a:p>
            <a:pPr marL="342900" indent="-342900">
              <a:buAutoNum type="arabicPeriod"/>
            </a:pPr>
            <a:endParaRPr lang="en-US" altLang="zh-CN" dirty="0"/>
          </a:p>
          <a:p>
            <a:pPr marL="342900" indent="-342900">
              <a:buFontTx/>
              <a:buAutoNum type="arabicPeriod"/>
            </a:pPr>
            <a:endParaRPr lang="en-US" altLang="zh-CN" dirty="0"/>
          </a:p>
          <a:p>
            <a:pPr marL="342900" indent="-342900">
              <a:buFontTx/>
              <a:buAutoNum type="arabicPeriod"/>
            </a:pPr>
            <a:r>
              <a:rPr lang="en-US" altLang="zh-CN" dirty="0" err="1"/>
              <a:t>toString</a:t>
            </a:r>
            <a:r>
              <a:rPr lang="en-US" altLang="zh-CN" dirty="0"/>
              <a:t> method is used to print out the desired information about the current object</a:t>
            </a:r>
          </a:p>
          <a:p>
            <a:pPr marL="342900" indent="-342900">
              <a:buAutoNum type="arabicPeriod"/>
            </a:pPr>
            <a:endParaRPr lang="en-US" altLang="zh-CN" dirty="0"/>
          </a:p>
          <a:p>
            <a:pPr marL="342900" indent="-342900">
              <a:buAutoNum type="arabicPeriod"/>
            </a:pPr>
            <a:endParaRPr lang="en-US" altLang="zh-CN" dirty="0"/>
          </a:p>
          <a:p>
            <a:pPr marL="342900" indent="-342900">
              <a:buAutoNum type="arabicPeriod"/>
            </a:pPr>
            <a:endParaRPr lang="en-US" altLang="zh-CN" dirty="0"/>
          </a:p>
          <a:p>
            <a:pPr marL="342900" indent="-342900">
              <a:buAutoNum type="arabicPeriod"/>
            </a:pPr>
            <a:endParaRPr lang="en-US" altLang="zh-CN" dirty="0"/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3235105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E74EE-D714-6031-E6C8-3E6FD3B44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How to instantiate Object</a:t>
            </a:r>
            <a:endParaRPr lang="zh-CN" alt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3CAB5BF-C2BD-0BD3-3446-FD2FBE2FE3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553" y="1690688"/>
            <a:ext cx="9147665" cy="1007698"/>
          </a:xfr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3B28D39-604E-3210-9AAC-908AB841EB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8880" y="3210012"/>
            <a:ext cx="4428676" cy="3383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4478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EF7DF0-8135-BF96-0860-FC1DDFF7D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2.3 Method Overloading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AFDCA-E2C7-1E85-2228-9F6B860A98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Overload means having </a:t>
            </a:r>
            <a:r>
              <a:rPr lang="en-US" altLang="zh-CN" b="1" dirty="0"/>
              <a:t>multiple constructors with the same name but different parameters</a:t>
            </a:r>
          </a:p>
          <a:p>
            <a:r>
              <a:rPr lang="en-US" altLang="zh-CN" dirty="0"/>
              <a:t>Gives more freedom to object declaration, makes code writing more convenient </a:t>
            </a:r>
          </a:p>
          <a:p>
            <a:endParaRPr lang="zh-CN" altLang="en-US" dirty="0"/>
          </a:p>
        </p:txBody>
      </p:sp>
      <p:pic>
        <p:nvPicPr>
          <p:cNvPr id="10" name="Picture 9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4688CE2A-C63E-A9DF-0415-F0179E9671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5176" y="3429000"/>
            <a:ext cx="6286824" cy="3352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5043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4F2C2-56D0-04E0-6496-491A9A3DE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Memory Storage 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5CDB9C-C7FF-C99D-6E5B-82BAE8D9B1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/>
              <a:t>Primitive Types </a:t>
            </a:r>
            <a:r>
              <a:rPr lang="en-US" altLang="zh-CN" dirty="0"/>
              <a:t>(int, double, char, Boolean) stores the exact </a:t>
            </a:r>
            <a:r>
              <a:rPr lang="en-US" altLang="zh-CN" b="1" dirty="0"/>
              <a:t>value</a:t>
            </a:r>
          </a:p>
          <a:p>
            <a:r>
              <a:rPr lang="en-US" altLang="zh-CN" b="1" dirty="0"/>
              <a:t>Reference Types </a:t>
            </a:r>
            <a:r>
              <a:rPr lang="en-US" altLang="zh-CN" dirty="0"/>
              <a:t>(classes) stores the </a:t>
            </a:r>
            <a:r>
              <a:rPr lang="en-US" altLang="zh-CN" b="1" dirty="0"/>
              <a:t>address</a:t>
            </a:r>
          </a:p>
          <a:p>
            <a:pPr lvl="1"/>
            <a:r>
              <a:rPr lang="en-US" altLang="zh-CN" b="1" dirty="0"/>
              <a:t>null</a:t>
            </a:r>
            <a:r>
              <a:rPr lang="en-US" altLang="zh-CN" dirty="0"/>
              <a:t> means the absence of an object</a:t>
            </a:r>
            <a:endParaRPr lang="en-US" altLang="zh-CN" b="1" dirty="0"/>
          </a:p>
          <a:p>
            <a:r>
              <a:rPr lang="en-US" altLang="zh-CN" b="1" dirty="0"/>
              <a:t>Example:</a:t>
            </a:r>
          </a:p>
          <a:p>
            <a:pPr lvl="1"/>
            <a:r>
              <a:rPr lang="en-US" altLang="zh-CN" b="1" dirty="0"/>
              <a:t>int a=5;</a:t>
            </a:r>
          </a:p>
          <a:p>
            <a:pPr lvl="1"/>
            <a:r>
              <a:rPr lang="en-US" altLang="zh-CN" b="1" dirty="0"/>
              <a:t>rectangle r1=new rectangle(5,10);</a:t>
            </a:r>
          </a:p>
          <a:p>
            <a:pPr lvl="1"/>
            <a:r>
              <a:rPr lang="en-US" altLang="zh-CN" b="1" dirty="0"/>
              <a:t>rectangle r2= null;</a:t>
            </a:r>
            <a:endParaRPr lang="zh-CN" altLang="en-US" b="1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E501D9C-3A43-9822-22D0-09BD3D4F38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269585"/>
              </p:ext>
            </p:extLst>
          </p:nvPr>
        </p:nvGraphicFramePr>
        <p:xfrm>
          <a:off x="3860800" y="5465838"/>
          <a:ext cx="8128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83045474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24612013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96685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r1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x05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17452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R2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null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805837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6C913A5-CAF1-3A78-656D-234725DBE04B}"/>
              </a:ext>
            </a:extLst>
          </p:cNvPr>
          <p:cNvSpPr txBox="1"/>
          <p:nvPr/>
        </p:nvSpPr>
        <p:spPr>
          <a:xfrm>
            <a:off x="5246914" y="5096506"/>
            <a:ext cx="9845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Address</a:t>
            </a:r>
            <a:endParaRPr lang="zh-CN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3D7E53-707D-AE76-4887-9480D9C698E4}"/>
              </a:ext>
            </a:extLst>
          </p:cNvPr>
          <p:cNvSpPr txBox="1"/>
          <p:nvPr/>
        </p:nvSpPr>
        <p:spPr>
          <a:xfrm>
            <a:off x="9503228" y="5096506"/>
            <a:ext cx="6479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Data</a:t>
            </a:r>
            <a:endParaRPr lang="zh-CN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5EF750-ACB4-D0DD-C88C-DDCC0CDAEBF4}"/>
              </a:ext>
            </a:extLst>
          </p:cNvPr>
          <p:cNvSpPr txBox="1"/>
          <p:nvPr/>
        </p:nvSpPr>
        <p:spPr>
          <a:xfrm>
            <a:off x="3011639" y="5465838"/>
            <a:ext cx="5293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x01</a:t>
            </a:r>
            <a:endParaRPr lang="zh-CN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2A776D-E087-0F47-42DC-8CC32B36C145}"/>
              </a:ext>
            </a:extLst>
          </p:cNvPr>
          <p:cNvSpPr txBox="1"/>
          <p:nvPr/>
        </p:nvSpPr>
        <p:spPr>
          <a:xfrm>
            <a:off x="3011639" y="5859177"/>
            <a:ext cx="5293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x02</a:t>
            </a:r>
            <a:endParaRPr lang="zh-CN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C32D3E-6DFE-5CD3-AD4D-AF65E731915A}"/>
              </a:ext>
            </a:extLst>
          </p:cNvPr>
          <p:cNvSpPr txBox="1"/>
          <p:nvPr/>
        </p:nvSpPr>
        <p:spPr>
          <a:xfrm>
            <a:off x="3011639" y="6209026"/>
            <a:ext cx="5293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x03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221956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F4DF2-77A5-C64E-EEE6-6F5C79CAD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2.4 Calling a void method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D0FD27-6338-EC47-C01B-E0C4B1CFD6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A class consists of:</a:t>
            </a:r>
          </a:p>
          <a:p>
            <a:pPr lvl="1"/>
            <a:r>
              <a:rPr lang="en-US" altLang="zh-CN" dirty="0"/>
              <a:t>State (Instance Variables)</a:t>
            </a:r>
          </a:p>
          <a:p>
            <a:pPr lvl="1"/>
            <a:r>
              <a:rPr lang="en-US" altLang="zh-CN" dirty="0"/>
              <a:t>Constructor (Initialize state value)</a:t>
            </a:r>
          </a:p>
          <a:p>
            <a:pPr lvl="1"/>
            <a:r>
              <a:rPr lang="en-US" altLang="zh-CN" dirty="0"/>
              <a:t>Behavior (methods)</a:t>
            </a:r>
            <a:endParaRPr lang="zh-CN" altLang="en-US" dirty="0"/>
          </a:p>
          <a:p>
            <a:endParaRPr lang="zh-CN" alt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AD1128A-2128-63F8-C23A-287CB99948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8400" y="2231012"/>
            <a:ext cx="5763811" cy="4403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16858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5AB09-7CB0-D553-4E35-109836D92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How to write a method</a:t>
            </a:r>
            <a:endParaRPr lang="zh-CN" alt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0E4A17A-7132-523E-899F-44CECE6F2F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42896" y="2556010"/>
            <a:ext cx="8843402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35139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B3C6D-9E4C-A5C9-C694-97AA95387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How to call a method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DEF62-CE7A-5D83-5160-49190CC878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Call methods using </a:t>
            </a:r>
            <a:r>
              <a:rPr lang="en-US" altLang="zh-CN" dirty="0" err="1"/>
              <a:t>objectName.methodName</a:t>
            </a:r>
            <a:r>
              <a:rPr lang="en-US" altLang="zh-CN" dirty="0"/>
              <a:t>()</a:t>
            </a:r>
          </a:p>
          <a:p>
            <a:r>
              <a:rPr lang="en-US" altLang="zh-CN" dirty="0"/>
              <a:t>Ex: Rectangle r1 = new Rectangle(10, 2);</a:t>
            </a:r>
          </a:p>
          <a:p>
            <a:pPr marL="0" indent="0">
              <a:buNone/>
            </a:pPr>
            <a:r>
              <a:rPr lang="en-US" altLang="zh-CN" dirty="0"/>
              <a:t>        r1.printArea();	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361232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5F614-12A2-DB26-7171-848947EE3B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2.5 Calling a void method with parameter</a:t>
            </a:r>
            <a:endParaRPr lang="zh-CN" altLang="en-US" dirty="0"/>
          </a:p>
        </p:txBody>
      </p:sp>
      <p:pic>
        <p:nvPicPr>
          <p:cNvPr id="6" name="Content Placeholder 5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DB8F0CAD-8AD7-6E43-7DB7-75F16E3EA6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8998" y="3178968"/>
            <a:ext cx="9634003" cy="1325563"/>
          </a:xfrm>
        </p:spPr>
      </p:pic>
      <p:pic>
        <p:nvPicPr>
          <p:cNvPr id="4" name="Content Placeholder 5">
            <a:extLst>
              <a:ext uri="{FF2B5EF4-FFF2-40B4-BE49-F238E27FC236}">
                <a16:creationId xmlns:a16="http://schemas.microsoft.com/office/drawing/2014/main" id="{BB422032-A854-A577-BA68-203140F75B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096" y="2330768"/>
            <a:ext cx="8843402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33962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05501-1841-5E28-9D16-9C35C012E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You can also overload method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63A08B-12B7-B46D-80A9-23F42028C9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You could have multiple methods with the same name but different parameters, just like constructors</a:t>
            </a:r>
            <a:endParaRPr lang="zh-CN" altLang="en-US" dirty="0"/>
          </a:p>
        </p:txBody>
      </p:sp>
      <p:pic>
        <p:nvPicPr>
          <p:cNvPr id="5" name="Picture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01D374A3-7057-F80D-78F3-F4D8ECB77A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5300" y="3159760"/>
            <a:ext cx="9719169" cy="3333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65589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FBD91-6751-BCB7-DC1B-D847FB0A2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2.6 Calling a non-void method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0A9C96-BCB6-DA74-E488-F220995495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Non-void method are method that </a:t>
            </a:r>
            <a:r>
              <a:rPr lang="en-US" altLang="zh-CN" b="1" dirty="0"/>
              <a:t>return </a:t>
            </a:r>
            <a:r>
              <a:rPr lang="en-US" altLang="zh-CN" dirty="0"/>
              <a:t>something, often the answer from the computation carried inside the method</a:t>
            </a:r>
          </a:p>
          <a:p>
            <a:r>
              <a:rPr lang="en-US" altLang="zh-CN" dirty="0"/>
              <a:t>A void method is like a </a:t>
            </a:r>
            <a:r>
              <a:rPr lang="en-US" altLang="zh-CN" b="1" dirty="0"/>
              <a:t>command</a:t>
            </a:r>
            <a:r>
              <a:rPr lang="en-US" altLang="zh-CN" dirty="0"/>
              <a:t>, it executes, but then do not give an answer back</a:t>
            </a:r>
          </a:p>
          <a:p>
            <a:r>
              <a:rPr lang="en-US" altLang="zh-CN" dirty="0"/>
              <a:t>A non-void method is like asking a </a:t>
            </a:r>
            <a:r>
              <a:rPr lang="en-US" altLang="zh-CN" b="1" dirty="0"/>
              <a:t>question</a:t>
            </a:r>
            <a:r>
              <a:rPr lang="en-US" altLang="zh-CN" dirty="0"/>
              <a:t>, it executes, and then give an answer back</a:t>
            </a:r>
            <a:endParaRPr lang="zh-CN" altLang="en-US" b="1" dirty="0"/>
          </a:p>
        </p:txBody>
      </p:sp>
      <p:pic>
        <p:nvPicPr>
          <p:cNvPr id="5" name="Picture 4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699DFF1D-23EC-FC59-3B87-4773AB1A1D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1247" y="4430931"/>
            <a:ext cx="3429297" cy="2263336"/>
          </a:xfrm>
          <a:prstGeom prst="rect">
            <a:avLst/>
          </a:prstGeom>
        </p:spPr>
      </p:pic>
      <p:pic>
        <p:nvPicPr>
          <p:cNvPr id="7" name="Picture 6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0C463AFF-C51F-4AB2-459F-67222C46D5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5704" y="4495706"/>
            <a:ext cx="3414056" cy="2133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7530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56251-4137-4E57-5BB3-6CEBFF5D1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Why is non-void method useful?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F10559-E57A-65A2-2B3A-4A96B5C998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It </a:t>
            </a:r>
            <a:r>
              <a:rPr lang="en-US" altLang="zh-CN" b="1" dirty="0"/>
              <a:t>keeps the result </a:t>
            </a:r>
            <a:r>
              <a:rPr lang="en-US" altLang="zh-CN" dirty="0"/>
              <a:t>from the method call, and you can create a new variable to store it. </a:t>
            </a:r>
          </a:p>
          <a:p>
            <a:pPr lvl="1"/>
            <a:r>
              <a:rPr lang="en-US" altLang="zh-CN" dirty="0"/>
              <a:t>Ex. Rectangle r1 = new Rectangle(4, 8);</a:t>
            </a:r>
          </a:p>
          <a:p>
            <a:pPr marL="914400" lvl="2" indent="0">
              <a:buNone/>
            </a:pPr>
            <a:r>
              <a:rPr lang="en-US" altLang="zh-CN" sz="2400" dirty="0"/>
              <a:t>   int area = r1.getArea();</a:t>
            </a:r>
          </a:p>
        </p:txBody>
      </p:sp>
      <p:pic>
        <p:nvPicPr>
          <p:cNvPr id="4" name="Picture 3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A0B955B0-E37A-D891-7C5E-53D5D6E0D5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578" y="3718560"/>
            <a:ext cx="4311394" cy="2694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2503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A8FA0-27E4-215F-D51E-8DD74E911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What happens if you do not use non-void method?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E87D18-F351-F11A-BE39-1BDC363291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You only get to </a:t>
            </a:r>
            <a:r>
              <a:rPr lang="en-US" altLang="zh-CN" b="1" dirty="0"/>
              <a:t>see</a:t>
            </a:r>
            <a:r>
              <a:rPr lang="en-US" altLang="zh-CN" dirty="0"/>
              <a:t> the result, but you can </a:t>
            </a:r>
            <a:r>
              <a:rPr lang="en-US" altLang="zh-CN" b="1" dirty="0"/>
              <a:t>never use </a:t>
            </a:r>
            <a:r>
              <a:rPr lang="en-US" altLang="zh-CN" dirty="0"/>
              <a:t>it elsewhere</a:t>
            </a:r>
          </a:p>
          <a:p>
            <a:pPr lvl="1"/>
            <a:r>
              <a:rPr lang="en-US" altLang="zh-CN" dirty="0"/>
              <a:t>Ex. Rectangle r1 = new Rectangle(4, 8);</a:t>
            </a:r>
          </a:p>
          <a:p>
            <a:pPr marL="914400" lvl="2" indent="0">
              <a:buNone/>
            </a:pPr>
            <a:r>
              <a:rPr lang="en-US" altLang="zh-CN" sz="2400" dirty="0"/>
              <a:t>   r1.printArea();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  <p:pic>
        <p:nvPicPr>
          <p:cNvPr id="4" name="Picture 3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6ADA6F0C-88BF-EB23-739A-002FF9C091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7087" y="3764624"/>
            <a:ext cx="4133713" cy="2728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60015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E4808-CC37-9A5E-3E3A-57726C37B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Key things to remember when declaring non-void method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5914D0-1CD1-1C5E-7E27-D664214ECB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1. Must </a:t>
            </a:r>
            <a:r>
              <a:rPr lang="en-US" altLang="zh-CN" b="1" dirty="0"/>
              <a:t>return</a:t>
            </a:r>
          </a:p>
          <a:p>
            <a:r>
              <a:rPr lang="en-US" altLang="zh-CN" dirty="0"/>
              <a:t>2. Return </a:t>
            </a:r>
            <a:r>
              <a:rPr lang="en-US" altLang="zh-CN" b="1" dirty="0"/>
              <a:t>type must match</a:t>
            </a:r>
            <a:endParaRPr lang="zh-CN" altLang="en-US" b="1" dirty="0"/>
          </a:p>
        </p:txBody>
      </p:sp>
      <p:pic>
        <p:nvPicPr>
          <p:cNvPr id="4" name="Picture 3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486F85D8-E184-CC94-9D57-165102F39A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5243" y="1825625"/>
            <a:ext cx="4311394" cy="2694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02220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0E79A-5CA0-3F9A-7541-70F007DE6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2.7 String Object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8B0355-EABC-CB17-F3B5-4A69B59A82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Revisiting String variable definition: String</a:t>
            </a:r>
            <a:r>
              <a:rPr lang="zh-CN" altLang="en-US" dirty="0"/>
              <a:t> </a:t>
            </a:r>
            <a:r>
              <a:rPr lang="en-US" altLang="zh-CN" dirty="0"/>
              <a:t>s1=“Monday”</a:t>
            </a:r>
          </a:p>
          <a:p>
            <a:r>
              <a:rPr lang="en-US" altLang="zh-CN" dirty="0"/>
              <a:t>You can also write as: String s1=new String(“Monday”)</a:t>
            </a:r>
          </a:p>
          <a:p>
            <a:endParaRPr lang="en-US" altLang="zh-CN" dirty="0"/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4870303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632D0-0AE1-0AA4-33EE-2382B6EBD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String Immutability 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9956C7-B121-6CC3-D8AF-264BB7C44F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Immutable means “cannot be changed”</a:t>
            </a:r>
          </a:p>
          <a:p>
            <a:r>
              <a:rPr lang="en-US" altLang="zh-CN" dirty="0"/>
              <a:t>Strings are immutable, meaning once they are created, they cannot be changed, but only reassigned</a:t>
            </a:r>
          </a:p>
          <a:p>
            <a:r>
              <a:rPr lang="en-US" altLang="zh-CN" dirty="0"/>
              <a:t>Example</a:t>
            </a:r>
          </a:p>
          <a:p>
            <a:pPr lvl="1"/>
            <a:r>
              <a:rPr lang="en-US" altLang="zh-CN" dirty="0"/>
              <a:t>String </a:t>
            </a:r>
            <a:r>
              <a:rPr lang="en-US" altLang="zh-CN" dirty="0" err="1"/>
              <a:t>fName</a:t>
            </a:r>
            <a:r>
              <a:rPr lang="en-US" altLang="zh-CN" dirty="0"/>
              <a:t>=“Siwen”</a:t>
            </a:r>
          </a:p>
          <a:p>
            <a:pPr lvl="1"/>
            <a:r>
              <a:rPr lang="en-US" altLang="zh-CN" dirty="0" err="1"/>
              <a:t>fName</a:t>
            </a:r>
            <a:r>
              <a:rPr lang="en-US" altLang="zh-CN" dirty="0"/>
              <a:t> + “ Wang”</a:t>
            </a:r>
            <a:endParaRPr lang="zh-CN" altLang="en-US" dirty="0"/>
          </a:p>
        </p:txBody>
      </p:sp>
      <p:sp>
        <p:nvSpPr>
          <p:cNvPr id="4" name="Multiplication Sign 3">
            <a:extLst>
              <a:ext uri="{FF2B5EF4-FFF2-40B4-BE49-F238E27FC236}">
                <a16:creationId xmlns:a16="http://schemas.microsoft.com/office/drawing/2014/main" id="{179A54AC-68EC-3662-39D2-9B4E50A5583F}"/>
              </a:ext>
            </a:extLst>
          </p:cNvPr>
          <p:cNvSpPr/>
          <p:nvPr/>
        </p:nvSpPr>
        <p:spPr>
          <a:xfrm>
            <a:off x="1366683" y="3965115"/>
            <a:ext cx="2762865" cy="825909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3284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FEFB4-A54E-DECC-BBAD-EDE8B6BBD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String Concatenation  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4805A2-1CAC-8404-C8B5-0EFB4D1CE3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899640"/>
          </a:xfrm>
        </p:spPr>
        <p:txBody>
          <a:bodyPr>
            <a:normAutofit fontScale="92500" lnSpcReduction="10000"/>
          </a:bodyPr>
          <a:lstStyle/>
          <a:p>
            <a:r>
              <a:rPr lang="en-US" altLang="zh-CN" dirty="0"/>
              <a:t>Simple Case:</a:t>
            </a:r>
          </a:p>
          <a:p>
            <a:pPr lvl="1"/>
            <a:r>
              <a:rPr lang="en-US" altLang="zh-CN" dirty="0"/>
              <a:t>String </a:t>
            </a:r>
            <a:r>
              <a:rPr lang="en-US" altLang="zh-CN" dirty="0" err="1"/>
              <a:t>fName</a:t>
            </a:r>
            <a:r>
              <a:rPr lang="en-US" altLang="zh-CN" dirty="0"/>
              <a:t>=“Siwen ”</a:t>
            </a:r>
          </a:p>
          <a:p>
            <a:pPr lvl="1"/>
            <a:r>
              <a:rPr lang="en-US" altLang="zh-CN" dirty="0"/>
              <a:t>String </a:t>
            </a:r>
            <a:r>
              <a:rPr lang="en-US" altLang="zh-CN" dirty="0" err="1"/>
              <a:t>lName</a:t>
            </a:r>
            <a:r>
              <a:rPr lang="en-US" altLang="zh-CN" dirty="0"/>
              <a:t>=“Wang”</a:t>
            </a:r>
          </a:p>
          <a:p>
            <a:pPr lvl="1"/>
            <a:r>
              <a:rPr lang="en-US" altLang="zh-CN" dirty="0"/>
              <a:t>String </a:t>
            </a:r>
            <a:r>
              <a:rPr lang="en-US" altLang="zh-CN" dirty="0" err="1"/>
              <a:t>fullName</a:t>
            </a:r>
            <a:r>
              <a:rPr lang="en-US" altLang="zh-CN" dirty="0"/>
              <a:t>=</a:t>
            </a:r>
            <a:r>
              <a:rPr lang="en-US" altLang="zh-CN" dirty="0" err="1"/>
              <a:t>fName+lName</a:t>
            </a:r>
            <a:endParaRPr lang="en-US" altLang="zh-CN" dirty="0"/>
          </a:p>
          <a:p>
            <a:r>
              <a:rPr lang="en-US" altLang="zh-CN" dirty="0"/>
              <a:t>Slightly complicated case:</a:t>
            </a:r>
          </a:p>
          <a:p>
            <a:pPr lvl="1"/>
            <a:r>
              <a:rPr lang="en-US" altLang="zh-CN" dirty="0"/>
              <a:t>String </a:t>
            </a:r>
            <a:r>
              <a:rPr lang="en-US" altLang="zh-CN" dirty="0" err="1"/>
              <a:t>fName</a:t>
            </a:r>
            <a:r>
              <a:rPr lang="en-US" altLang="zh-CN" dirty="0"/>
              <a:t>=“Siwen”</a:t>
            </a:r>
          </a:p>
          <a:p>
            <a:pPr lvl="1"/>
            <a:r>
              <a:rPr lang="en-US" altLang="zh-CN" dirty="0"/>
              <a:t>int age=26</a:t>
            </a:r>
          </a:p>
          <a:p>
            <a:pPr lvl="1"/>
            <a:r>
              <a:rPr lang="en-US" altLang="zh-CN" dirty="0" err="1"/>
              <a:t>System.out.println</a:t>
            </a:r>
            <a:r>
              <a:rPr lang="en-US" altLang="zh-CN" dirty="0"/>
              <a:t>(</a:t>
            </a:r>
            <a:r>
              <a:rPr lang="en-US" altLang="zh-CN" dirty="0" err="1"/>
              <a:t>fName</a:t>
            </a:r>
            <a:r>
              <a:rPr lang="en-US" altLang="zh-CN" dirty="0"/>
              <a:t>+” is” + age)</a:t>
            </a:r>
          </a:p>
          <a:p>
            <a:r>
              <a:rPr lang="en-US" altLang="zh-CN" dirty="0"/>
              <a:t>Exam Question:</a:t>
            </a:r>
          </a:p>
          <a:p>
            <a:pPr lvl="1"/>
            <a:r>
              <a:rPr lang="en-US" altLang="zh-CN" dirty="0"/>
              <a:t>String </a:t>
            </a:r>
            <a:r>
              <a:rPr lang="en-US" altLang="zh-CN" dirty="0" err="1"/>
              <a:t>fName</a:t>
            </a:r>
            <a:r>
              <a:rPr lang="en-US" altLang="zh-CN" dirty="0"/>
              <a:t>=“Siwen”</a:t>
            </a:r>
          </a:p>
          <a:p>
            <a:pPr lvl="1"/>
            <a:r>
              <a:rPr lang="en-US" altLang="zh-CN" dirty="0"/>
              <a:t>int age =14</a:t>
            </a:r>
          </a:p>
          <a:p>
            <a:pPr lvl="1"/>
            <a:r>
              <a:rPr lang="en-US" altLang="zh-CN" dirty="0"/>
              <a:t>int age2 = 12</a:t>
            </a:r>
          </a:p>
          <a:p>
            <a:pPr lvl="1"/>
            <a:r>
              <a:rPr lang="en-US" altLang="zh-CN" dirty="0" err="1"/>
              <a:t>System.out.println</a:t>
            </a:r>
            <a:r>
              <a:rPr lang="en-US" altLang="zh-CN" dirty="0"/>
              <a:t>(</a:t>
            </a:r>
            <a:r>
              <a:rPr lang="en-US" altLang="zh-CN" dirty="0" err="1"/>
              <a:t>fName</a:t>
            </a:r>
            <a:r>
              <a:rPr lang="en-US" altLang="zh-CN" dirty="0"/>
              <a:t>+” is ” + age + age2)</a:t>
            </a:r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135655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7D500-6162-1C72-6B02-9F2BE9331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Use Escape Sequence (\) to type special letters</a:t>
            </a:r>
            <a:endParaRPr lang="zh-CN" altLang="en-US" dirty="0"/>
          </a:p>
        </p:txBody>
      </p:sp>
      <p:pic>
        <p:nvPicPr>
          <p:cNvPr id="5" name="Content Placeholder 4" descr="A blue and white box with black text&#10;&#10;AI-generated content may be incorrect.">
            <a:extLst>
              <a:ext uri="{FF2B5EF4-FFF2-40B4-BE49-F238E27FC236}">
                <a16:creationId xmlns:a16="http://schemas.microsoft.com/office/drawing/2014/main" id="{33227962-50E5-1F2C-074B-02D05995DD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78755"/>
            <a:ext cx="10626163" cy="2798045"/>
          </a:xfrm>
        </p:spPr>
      </p:pic>
    </p:spTree>
    <p:extLst>
      <p:ext uri="{BB962C8B-B14F-4D97-AF65-F5344CB8AC3E}">
        <p14:creationId xmlns:p14="http://schemas.microsoft.com/office/powerpoint/2010/main" val="36756162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47255-67BE-CA78-DF6C-21ABF5C1C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2.8. String Methods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51C396-144C-CEFA-FCA6-ACB8FA3716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Strings are Object, so they also have methods</a:t>
            </a:r>
          </a:p>
          <a:p>
            <a:r>
              <a:rPr lang="en-US" altLang="zh-CN" dirty="0"/>
              <a:t>Introducing Java Quick </a:t>
            </a:r>
            <a:r>
              <a:rPr lang="en-US" altLang="zh-CN"/>
              <a:t>Reference Sheet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09757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EBBF1-A39E-A1FD-571E-817F78986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String Index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A74AFD-54C9-6430-FDFB-1BFF149EE4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Strings are sequence of characters</a:t>
            </a:r>
          </a:p>
          <a:p>
            <a:r>
              <a:rPr lang="en-US" altLang="zh-CN" dirty="0"/>
              <a:t>You can use the </a:t>
            </a:r>
            <a:r>
              <a:rPr lang="en-US" altLang="zh-CN" b="1" dirty="0"/>
              <a:t>.</a:t>
            </a:r>
            <a:r>
              <a:rPr lang="en-US" altLang="zh-CN" b="1" dirty="0" err="1"/>
              <a:t>charAt</a:t>
            </a:r>
            <a:r>
              <a:rPr lang="en-US" altLang="zh-CN" b="1" dirty="0"/>
              <a:t>(int index) </a:t>
            </a:r>
            <a:r>
              <a:rPr lang="en-US" altLang="zh-CN" dirty="0"/>
              <a:t>method to extract characters from String, the return type is </a:t>
            </a:r>
            <a:r>
              <a:rPr lang="en-US" altLang="zh-CN" b="1" dirty="0"/>
              <a:t>char </a:t>
            </a:r>
          </a:p>
          <a:p>
            <a:r>
              <a:rPr lang="en-US" altLang="zh-CN" dirty="0"/>
              <a:t>For example:</a:t>
            </a:r>
          </a:p>
          <a:p>
            <a:pPr lvl="1"/>
            <a:r>
              <a:rPr lang="en-US" altLang="zh-CN" dirty="0"/>
              <a:t>String str = “hello”;</a:t>
            </a:r>
          </a:p>
          <a:p>
            <a:pPr lvl="1"/>
            <a:r>
              <a:rPr lang="en-US" altLang="zh-CN" dirty="0"/>
              <a:t>char l=</a:t>
            </a:r>
            <a:r>
              <a:rPr lang="en-US" altLang="zh-CN" dirty="0" err="1"/>
              <a:t>str.charAt</a:t>
            </a:r>
            <a:r>
              <a:rPr lang="en-US" altLang="zh-CN" dirty="0"/>
              <a:t>(1);</a:t>
            </a:r>
          </a:p>
          <a:p>
            <a:pPr lvl="1"/>
            <a:endParaRPr lang="zh-CN" altLang="en-US" dirty="0"/>
          </a:p>
        </p:txBody>
      </p:sp>
      <p:pic>
        <p:nvPicPr>
          <p:cNvPr id="5" name="Picture 4" descr="A screenshot of a white board&#10;&#10;AI-generated content may be incorrect.">
            <a:extLst>
              <a:ext uri="{FF2B5EF4-FFF2-40B4-BE49-F238E27FC236}">
                <a16:creationId xmlns:a16="http://schemas.microsoft.com/office/drawing/2014/main" id="{53B5C7A0-80F0-C83E-75C6-100F912E24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0080" y="3675100"/>
            <a:ext cx="6169553" cy="3030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5268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EE699-DC3F-97EA-5DD4-054F6646E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Common String Methods to Know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4EBA2B-C48A-86F4-14B0-BDBE59542C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196485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/>
              <a:t>String s1=“hello”</a:t>
            </a:r>
          </a:p>
          <a:p>
            <a:r>
              <a:rPr lang="en-US" altLang="zh-CN" b="1" dirty="0"/>
              <a:t>s1.length()</a:t>
            </a:r>
            <a:r>
              <a:rPr lang="en-US" altLang="zh-CN" dirty="0"/>
              <a:t> returns the number of character in the string as int </a:t>
            </a:r>
          </a:p>
          <a:p>
            <a:r>
              <a:rPr lang="en-US" altLang="zh-CN" b="1" dirty="0"/>
              <a:t>s1.substring(2,5) </a:t>
            </a:r>
            <a:r>
              <a:rPr lang="en-US" altLang="zh-CN" dirty="0"/>
              <a:t>returns substring from index 2 and ending at 4</a:t>
            </a:r>
          </a:p>
          <a:p>
            <a:r>
              <a:rPr lang="en-US" altLang="zh-CN" b="1" dirty="0"/>
              <a:t>s1.substring(1) </a:t>
            </a:r>
            <a:r>
              <a:rPr lang="en-US" altLang="zh-CN" dirty="0"/>
              <a:t>returns the substring from index 1 to the end</a:t>
            </a:r>
          </a:p>
          <a:p>
            <a:r>
              <a:rPr lang="en-US" altLang="zh-CN" b="1" dirty="0"/>
              <a:t>s1.indexOf(“e”) </a:t>
            </a:r>
            <a:r>
              <a:rPr lang="en-US" altLang="zh-CN" dirty="0"/>
              <a:t>returns the index of the first occurrence of “e”, returns -1 if not found</a:t>
            </a:r>
          </a:p>
          <a:p>
            <a:r>
              <a:rPr lang="en-US" altLang="zh-CN" b="1" dirty="0"/>
              <a:t>s1.equals(“</a:t>
            </a:r>
            <a:r>
              <a:rPr lang="en-US" altLang="zh-CN" b="1" dirty="0" err="1"/>
              <a:t>helo</a:t>
            </a:r>
            <a:r>
              <a:rPr lang="en-US" altLang="zh-CN" b="1" dirty="0"/>
              <a:t>”) </a:t>
            </a:r>
            <a:r>
              <a:rPr lang="en-US" altLang="zh-CN" dirty="0"/>
              <a:t>returns true if s1 is equal to “</a:t>
            </a:r>
            <a:r>
              <a:rPr lang="en-US" altLang="zh-CN" dirty="0" err="1"/>
              <a:t>helo</a:t>
            </a:r>
            <a:r>
              <a:rPr lang="en-US" altLang="zh-CN" dirty="0"/>
              <a:t>”, false otherwise</a:t>
            </a:r>
          </a:p>
          <a:p>
            <a:r>
              <a:rPr lang="en-US" altLang="zh-CN" b="1" dirty="0"/>
              <a:t>s1.compareTo(“</a:t>
            </a:r>
            <a:r>
              <a:rPr lang="en-US" altLang="zh-CN" b="1" dirty="0" err="1"/>
              <a:t>helo</a:t>
            </a:r>
            <a:r>
              <a:rPr lang="en-US" altLang="zh-CN" b="1" dirty="0"/>
              <a:t>”)  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62818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566FE-8118-B5D7-8BDB-7604657AD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compareTo</a:t>
            </a:r>
            <a:r>
              <a:rPr lang="en-US" altLang="zh-CN" dirty="0"/>
              <a:t>()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2E4BA0-9CA3-E013-8EFE-4773D5CE2A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/>
              <a:t>compareTo</a:t>
            </a:r>
            <a:r>
              <a:rPr lang="en-US" altLang="zh-CN" dirty="0"/>
              <a:t>() compares the value of the </a:t>
            </a:r>
            <a:r>
              <a:rPr lang="en-US" altLang="zh-CN" b="1" dirty="0"/>
              <a:t>first character </a:t>
            </a:r>
            <a:r>
              <a:rPr lang="en-US" altLang="zh-CN" dirty="0"/>
              <a:t>that </a:t>
            </a:r>
            <a:r>
              <a:rPr lang="en-US" altLang="zh-CN" b="1" dirty="0"/>
              <a:t>NOT </a:t>
            </a:r>
            <a:r>
              <a:rPr lang="en-US" altLang="zh-CN" dirty="0"/>
              <a:t>equal in both strings. It returns a numeric value based on the comparison</a:t>
            </a:r>
          </a:p>
          <a:p>
            <a:r>
              <a:rPr lang="en-US" altLang="zh-CN" dirty="0"/>
              <a:t>Example: </a:t>
            </a:r>
          </a:p>
          <a:p>
            <a:pPr lvl="1"/>
            <a:r>
              <a:rPr lang="en-US" altLang="zh-CN" dirty="0"/>
              <a:t>int value = “D”.</a:t>
            </a:r>
            <a:r>
              <a:rPr lang="en-US" altLang="zh-CN" dirty="0" err="1"/>
              <a:t>compareTo</a:t>
            </a:r>
            <a:r>
              <a:rPr lang="en-US" altLang="zh-CN" dirty="0"/>
              <a:t>(“d”); </a:t>
            </a:r>
          </a:p>
          <a:p>
            <a:pPr lvl="1"/>
            <a:r>
              <a:rPr lang="en-US" altLang="zh-CN" dirty="0"/>
              <a:t>int res = “Karel”.</a:t>
            </a:r>
            <a:r>
              <a:rPr lang="en-US" altLang="zh-CN" dirty="0" err="1"/>
              <a:t>compareTo</a:t>
            </a:r>
            <a:r>
              <a:rPr lang="en-US" altLang="zh-CN" dirty="0"/>
              <a:t>(“Karen”);</a:t>
            </a:r>
            <a:endParaRPr lang="zh-CN" altLang="en-US" dirty="0"/>
          </a:p>
        </p:txBody>
      </p:sp>
      <p:pic>
        <p:nvPicPr>
          <p:cNvPr id="5" name="Picture 4" descr="A close up of a number&#10;&#10;AI-generated content may be incorrect.">
            <a:extLst>
              <a:ext uri="{FF2B5EF4-FFF2-40B4-BE49-F238E27FC236}">
                <a16:creationId xmlns:a16="http://schemas.microsoft.com/office/drawing/2014/main" id="{8F98896A-7923-704E-77D3-F87178E823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628" y="5006424"/>
            <a:ext cx="10341632" cy="1305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7134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E111A-CB50-25DC-B8F6-850808694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Where did the String class come from?</a:t>
            </a:r>
            <a:endParaRPr lang="zh-CN" altLang="en-US" dirty="0"/>
          </a:p>
        </p:txBody>
      </p:sp>
      <p:pic>
        <p:nvPicPr>
          <p:cNvPr id="5" name="Content Placeholder 4" descr="A bookcase with many books&#10;&#10;AI-generated content may be incorrect.">
            <a:extLst>
              <a:ext uri="{FF2B5EF4-FFF2-40B4-BE49-F238E27FC236}">
                <a16:creationId xmlns:a16="http://schemas.microsoft.com/office/drawing/2014/main" id="{162B4D22-0588-D00A-47AC-EA773E94C9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8024" y="1690688"/>
            <a:ext cx="8099095" cy="478859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2C6465D-9A8A-AC20-B0DF-B46690B413B7}"/>
              </a:ext>
            </a:extLst>
          </p:cNvPr>
          <p:cNvSpPr txBox="1"/>
          <p:nvPr/>
        </p:nvSpPr>
        <p:spPr>
          <a:xfrm>
            <a:off x="2885440" y="1879600"/>
            <a:ext cx="12298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/>
              <a:t>Library</a:t>
            </a:r>
            <a:endParaRPr lang="zh-CN" alt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6D9DE2-4AC4-3EA2-444C-3422F44E83A2}"/>
              </a:ext>
            </a:extLst>
          </p:cNvPr>
          <p:cNvSpPr txBox="1"/>
          <p:nvPr/>
        </p:nvSpPr>
        <p:spPr>
          <a:xfrm>
            <a:off x="6908800" y="1523534"/>
            <a:ext cx="14638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/>
              <a:t>Package</a:t>
            </a:r>
            <a:endParaRPr lang="zh-CN" altLang="en-US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D0E23B-5BF4-498F-9C7B-58D42FF35ABB}"/>
              </a:ext>
            </a:extLst>
          </p:cNvPr>
          <p:cNvSpPr txBox="1"/>
          <p:nvPr/>
        </p:nvSpPr>
        <p:spPr>
          <a:xfrm>
            <a:off x="10170160" y="3763076"/>
            <a:ext cx="12891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/>
              <a:t>Classes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89591260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43702-89DF-7347-CBB0-BCEB9C65F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API (Application Programming Interface)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D46C6F-2A4F-2A1D-F5AB-3BAB3A2678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API is a </a:t>
            </a:r>
            <a:r>
              <a:rPr lang="en-US" altLang="zh-CN" b="1" dirty="0"/>
              <a:t>set of instruction </a:t>
            </a:r>
            <a:r>
              <a:rPr lang="en-US" altLang="zh-CN" dirty="0"/>
              <a:t>on how to use the class, it allows us to use the class and methods without knowing how its implemented by reading the </a:t>
            </a:r>
            <a:r>
              <a:rPr lang="en-US" altLang="zh-CN" b="1" dirty="0"/>
              <a:t>documentations</a:t>
            </a:r>
          </a:p>
          <a:p>
            <a:r>
              <a:rPr lang="en-US" altLang="zh-CN" dirty="0"/>
              <a:t>Example:</a:t>
            </a:r>
          </a:p>
          <a:p>
            <a:pPr lvl="1"/>
            <a:r>
              <a:rPr lang="en-US" altLang="zh-CN" dirty="0"/>
              <a:t>Search “Java String class API”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1299209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C0BCA-1853-AE9A-70C0-D7242D170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2.9 Wrapper Class 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E927B4-B0D2-6260-9816-D63887BD2A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int, double are called primitive types</a:t>
            </a:r>
          </a:p>
          <a:p>
            <a:r>
              <a:rPr lang="en-US" altLang="zh-CN" dirty="0"/>
              <a:t>Integer and Double are its corresponding </a:t>
            </a:r>
            <a:r>
              <a:rPr lang="en-US" altLang="zh-CN" b="1" dirty="0"/>
              <a:t>wrapper class</a:t>
            </a:r>
            <a:r>
              <a:rPr lang="en-US" altLang="zh-CN" dirty="0"/>
              <a:t>, which are reference types (objects)</a:t>
            </a:r>
          </a:p>
          <a:p>
            <a:r>
              <a:rPr lang="en-US" altLang="zh-CN" dirty="0"/>
              <a:t>The “only reason that you are learning this wrapper class is that in the future we will learn a new data structure which only takes in reference types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07474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8734E-D6E6-1072-7F1F-26862E9B6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Key Takeaway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5193FE-706B-D7C4-8AAC-4437A0EFEC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In most scenarios, especially in computation, you can treat Double &amp; double, </a:t>
            </a:r>
            <a:r>
              <a:rPr lang="en-US" altLang="zh-CN" dirty="0" err="1"/>
              <a:t>Integer&amp;int</a:t>
            </a:r>
            <a:r>
              <a:rPr lang="en-US" altLang="zh-CN" dirty="0"/>
              <a:t> as the same thing due to </a:t>
            </a:r>
            <a:r>
              <a:rPr lang="en-US" altLang="zh-CN" b="1" dirty="0"/>
              <a:t>autoboxing</a:t>
            </a:r>
            <a:r>
              <a:rPr lang="en-US" altLang="zh-CN" dirty="0"/>
              <a:t> and </a:t>
            </a:r>
            <a:r>
              <a:rPr lang="en-US" altLang="zh-CN" b="1" dirty="0"/>
              <a:t>unboxing</a:t>
            </a:r>
          </a:p>
          <a:p>
            <a:r>
              <a:rPr lang="en-US" altLang="zh-CN" dirty="0"/>
              <a:t>The exceptions are:</a:t>
            </a:r>
          </a:p>
          <a:p>
            <a:pPr lvl="1"/>
            <a:r>
              <a:rPr lang="en-US" altLang="zh-CN" dirty="0"/>
              <a:t>1. You cannot call methods from a primitive type, autoboxing will not happen here</a:t>
            </a:r>
          </a:p>
          <a:p>
            <a:pPr lvl="2"/>
            <a:r>
              <a:rPr lang="en-US" altLang="zh-CN" dirty="0"/>
              <a:t>int x=5</a:t>
            </a:r>
          </a:p>
          <a:p>
            <a:pPr lvl="2"/>
            <a:r>
              <a:rPr lang="en-US" altLang="zh-CN" dirty="0"/>
              <a:t>int y = </a:t>
            </a:r>
            <a:r>
              <a:rPr lang="en-US" altLang="zh-CN" dirty="0" err="1"/>
              <a:t>x.intValue</a:t>
            </a:r>
            <a:r>
              <a:rPr lang="en-US" altLang="zh-CN" dirty="0"/>
              <a:t>()</a:t>
            </a:r>
          </a:p>
          <a:p>
            <a:pPr lvl="1"/>
            <a:r>
              <a:rPr lang="en-US" altLang="zh-CN" dirty="0"/>
              <a:t>2. You cannot directly typecast on the wrapper class</a:t>
            </a:r>
          </a:p>
          <a:p>
            <a:pPr lvl="2"/>
            <a:r>
              <a:rPr lang="en-US" altLang="zh-CN" dirty="0"/>
              <a:t>Double x=5.5;</a:t>
            </a:r>
          </a:p>
          <a:p>
            <a:pPr lvl="2"/>
            <a:r>
              <a:rPr lang="en-US" altLang="zh-CN" dirty="0"/>
              <a:t>int y = (int) x;</a:t>
            </a:r>
            <a:endParaRPr lang="zh-CN" altLang="en-US" dirty="0"/>
          </a:p>
        </p:txBody>
      </p:sp>
      <p:sp>
        <p:nvSpPr>
          <p:cNvPr id="5" name="Multiplication Sign 4">
            <a:extLst>
              <a:ext uri="{FF2B5EF4-FFF2-40B4-BE49-F238E27FC236}">
                <a16:creationId xmlns:a16="http://schemas.microsoft.com/office/drawing/2014/main" id="{5760DB27-8411-27D6-E919-CC845C970B29}"/>
              </a:ext>
            </a:extLst>
          </p:cNvPr>
          <p:cNvSpPr/>
          <p:nvPr/>
        </p:nvSpPr>
        <p:spPr>
          <a:xfrm>
            <a:off x="1917291" y="4483509"/>
            <a:ext cx="2143432" cy="641811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Multiplication Sign 5">
            <a:extLst>
              <a:ext uri="{FF2B5EF4-FFF2-40B4-BE49-F238E27FC236}">
                <a16:creationId xmlns:a16="http://schemas.microsoft.com/office/drawing/2014/main" id="{926D728F-02FC-21C4-4905-FD7151EC9F9F}"/>
              </a:ext>
            </a:extLst>
          </p:cNvPr>
          <p:cNvSpPr/>
          <p:nvPr/>
        </p:nvSpPr>
        <p:spPr>
          <a:xfrm>
            <a:off x="1725562" y="5535152"/>
            <a:ext cx="2143432" cy="641811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1063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E1F46-23C5-3AF3-BF1F-9A4C35FA6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2.10 Using the Math class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35AF3-21B9-7670-39A0-DAFB90CA79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Non-static method: This is what we have learned so far. First create an object, then call the method on the object. For example:</a:t>
            </a:r>
          </a:p>
          <a:p>
            <a:pPr lvl="1"/>
            <a:r>
              <a:rPr lang="en-US" altLang="zh-CN" dirty="0"/>
              <a:t>Rectangle r1=new Rectangle(3,4);</a:t>
            </a:r>
          </a:p>
          <a:p>
            <a:pPr lvl="1"/>
            <a:r>
              <a:rPr lang="en-US" altLang="zh-CN" dirty="0"/>
              <a:t>int x=r1.getWidth();</a:t>
            </a:r>
          </a:p>
          <a:p>
            <a:r>
              <a:rPr lang="en-US" altLang="zh-CN" dirty="0"/>
              <a:t>Static method: Static methods are methods in Java that can be called without creating an object, you can call the method on</a:t>
            </a:r>
            <a:r>
              <a:rPr lang="en-US" altLang="zh-CN" b="1" dirty="0"/>
              <a:t> the class name</a:t>
            </a:r>
            <a:r>
              <a:rPr lang="en-US" altLang="zh-CN" dirty="0"/>
              <a:t>. </a:t>
            </a:r>
          </a:p>
          <a:p>
            <a:pPr lvl="1"/>
            <a:r>
              <a:rPr lang="en-US" altLang="zh-CN" dirty="0"/>
              <a:t>double x=</a:t>
            </a:r>
            <a:r>
              <a:rPr lang="en-US" altLang="zh-CN" dirty="0" err="1"/>
              <a:t>Math.random</a:t>
            </a:r>
            <a:r>
              <a:rPr lang="en-US" altLang="zh-CN" dirty="0"/>
              <a:t>()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32351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E9451-D6C5-5EDC-E2A5-2173ABE08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The Math class methods</a:t>
            </a:r>
            <a:endParaRPr lang="zh-CN" alt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4B94B22-F204-E434-14C2-6E5E9FE4F0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7282E68-9E88-AF42-C34A-2B1E9EB3AC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427" y="2095024"/>
            <a:ext cx="10874692" cy="2667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891969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41B3E-BD68-7EF6-8955-08A0DDC36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Small Exercise: Generating a random int between 0 to 5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5DB13C-8C4A-6735-C2EC-900D4854B5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/>
              <a:t>Math.random</a:t>
            </a:r>
            <a:r>
              <a:rPr lang="en-US" altLang="zh-CN" dirty="0"/>
              <a:t>() returns a double greater or equal to 0.0, but less than 1.0</a:t>
            </a:r>
          </a:p>
          <a:p>
            <a:r>
              <a:rPr lang="en-US" altLang="zh-CN" dirty="0"/>
              <a:t>What would be the range of values if we do </a:t>
            </a:r>
            <a:r>
              <a:rPr lang="en-US" altLang="zh-CN" dirty="0" err="1"/>
              <a:t>Math.random</a:t>
            </a:r>
            <a:r>
              <a:rPr lang="en-US" altLang="zh-CN" dirty="0"/>
              <a:t>() * 5?</a:t>
            </a:r>
          </a:p>
          <a:p>
            <a:r>
              <a:rPr lang="en-US" altLang="zh-CN" dirty="0"/>
              <a:t>How do we convert the value from a double to int?</a:t>
            </a:r>
          </a:p>
          <a:p>
            <a:r>
              <a:rPr lang="en-US" altLang="zh-CN" dirty="0"/>
              <a:t>Now how do we fix the off-by-one error?</a:t>
            </a:r>
          </a:p>
          <a:p>
            <a:r>
              <a:rPr lang="en-US" altLang="zh-CN" dirty="0"/>
              <a:t>Finally, the formula to generating an int from range 0 to x: </a:t>
            </a:r>
          </a:p>
          <a:p>
            <a:pPr lvl="1"/>
            <a:r>
              <a:rPr lang="en-US" altLang="zh-CN" dirty="0"/>
              <a:t>(int) (</a:t>
            </a:r>
            <a:r>
              <a:rPr lang="en-US" altLang="zh-CN" dirty="0" err="1"/>
              <a:t>Math.random</a:t>
            </a:r>
            <a:r>
              <a:rPr lang="en-US" altLang="zh-CN" dirty="0"/>
              <a:t>() * (x+1))</a:t>
            </a:r>
          </a:p>
        </p:txBody>
      </p:sp>
    </p:spTree>
    <p:extLst>
      <p:ext uri="{BB962C8B-B14F-4D97-AF65-F5344CB8AC3E}">
        <p14:creationId xmlns:p14="http://schemas.microsoft.com/office/powerpoint/2010/main" val="1904656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E5FDA-24B1-1545-D00D-1CD76E689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Now what if we want to generate int numbers from any range between x (min) and y (max) 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1339BB-9122-B248-6360-5E100F7453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 altLang="zh-CN" dirty="0"/>
              <a:t>(int)(Math.random() * (max - min + 1)) + min;</a:t>
            </a:r>
          </a:p>
          <a:p>
            <a:r>
              <a:rPr lang="sv-SE" altLang="zh-CN" dirty="0"/>
              <a:t>Try the example: [2,4] and see if it works</a:t>
            </a:r>
          </a:p>
        </p:txBody>
      </p:sp>
    </p:spTree>
    <p:extLst>
      <p:ext uri="{BB962C8B-B14F-4D97-AF65-F5344CB8AC3E}">
        <p14:creationId xmlns:p14="http://schemas.microsoft.com/office/powerpoint/2010/main" val="3359716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692</TotalTime>
  <Words>1318</Words>
  <Application>Microsoft Office PowerPoint</Application>
  <PresentationFormat>Widescreen</PresentationFormat>
  <Paragraphs>183</Paragraphs>
  <Slides>34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8" baseType="lpstr">
      <vt:lpstr>等线</vt:lpstr>
      <vt:lpstr>等线 Light</vt:lpstr>
      <vt:lpstr>Arial</vt:lpstr>
      <vt:lpstr>Office Theme</vt:lpstr>
      <vt:lpstr>PowerPoint Presentation</vt:lpstr>
      <vt:lpstr>Unit 2 Overview </vt:lpstr>
      <vt:lpstr>Class Structure</vt:lpstr>
      <vt:lpstr>2.2 Creating and Storing Objects</vt:lpstr>
      <vt:lpstr>Class Structure</vt:lpstr>
      <vt:lpstr>PowerPoint Presentation</vt:lpstr>
      <vt:lpstr>How to instantiate Object</vt:lpstr>
      <vt:lpstr>2.3 Method Overloading</vt:lpstr>
      <vt:lpstr>Memory Storage </vt:lpstr>
      <vt:lpstr>2.4 Calling a void method</vt:lpstr>
      <vt:lpstr>How to write a method</vt:lpstr>
      <vt:lpstr>How to call a method</vt:lpstr>
      <vt:lpstr>2.5 Calling a void method with parameter</vt:lpstr>
      <vt:lpstr>You can also overload method</vt:lpstr>
      <vt:lpstr>2.6 Calling a non-void method</vt:lpstr>
      <vt:lpstr>Why is non-void method useful?</vt:lpstr>
      <vt:lpstr>What happens if you do not use non-void method?</vt:lpstr>
      <vt:lpstr>Key things to remember when declaring non-void method</vt:lpstr>
      <vt:lpstr>2.7 String Object</vt:lpstr>
      <vt:lpstr>String Immutability </vt:lpstr>
      <vt:lpstr>String Concatenation  </vt:lpstr>
      <vt:lpstr>Use Escape Sequence (\) to type special letters</vt:lpstr>
      <vt:lpstr>2.8. String Methods</vt:lpstr>
      <vt:lpstr>String Index</vt:lpstr>
      <vt:lpstr>Common String Methods to Know</vt:lpstr>
      <vt:lpstr>compareTo()</vt:lpstr>
      <vt:lpstr>Where did the String class come from?</vt:lpstr>
      <vt:lpstr>API (Application Programming Interface)</vt:lpstr>
      <vt:lpstr>2.9 Wrapper Class </vt:lpstr>
      <vt:lpstr>Key Takeaway</vt:lpstr>
      <vt:lpstr>2.10 Using the Math class</vt:lpstr>
      <vt:lpstr>The Math class methods</vt:lpstr>
      <vt:lpstr>Small Exercise: Generating a random int between 0 to 5</vt:lpstr>
      <vt:lpstr>Now what if we want to generate int numbers from any range between x (min) and y (max)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Wang, Siwen</dc:creator>
  <cp:lastModifiedBy>Wang, Siwen</cp:lastModifiedBy>
  <cp:revision>193</cp:revision>
  <dcterms:created xsi:type="dcterms:W3CDTF">2025-09-15T01:26:47Z</dcterms:created>
  <dcterms:modified xsi:type="dcterms:W3CDTF">2025-10-10T11:29:41Z</dcterms:modified>
</cp:coreProperties>
</file>