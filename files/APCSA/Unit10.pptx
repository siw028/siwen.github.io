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2" r:id="rId6"/>
    <p:sldId id="260" r:id="rId7"/>
    <p:sldId id="273" r:id="rId8"/>
    <p:sldId id="274" r:id="rId9"/>
    <p:sldId id="275" r:id="rId10"/>
    <p:sldId id="276" r:id="rId11"/>
    <p:sldId id="278" r:id="rId12"/>
    <p:sldId id="277" r:id="rId13"/>
    <p:sldId id="281" r:id="rId14"/>
    <p:sldId id="279" r:id="rId15"/>
    <p:sldId id="280" r:id="rId16"/>
    <p:sldId id="28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Worst Case Scenario Operation Counts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14</c:v>
                </c:pt>
                <c:pt idx="4">
                  <c:v>15</c:v>
                </c:pt>
                <c:pt idx="5">
                  <c:v>16</c:v>
                </c:pt>
                <c:pt idx="6">
                  <c:v>17</c:v>
                </c:pt>
                <c:pt idx="7">
                  <c:v>18</c:v>
                </c:pt>
                <c:pt idx="8">
                  <c:v>19</c:v>
                </c:pt>
                <c:pt idx="9">
                  <c:v>20</c:v>
                </c:pt>
                <c:pt idx="10">
                  <c:v>21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14</c:v>
                </c:pt>
                <c:pt idx="4">
                  <c:v>15</c:v>
                </c:pt>
                <c:pt idx="5">
                  <c:v>16</c:v>
                </c:pt>
                <c:pt idx="6">
                  <c:v>17</c:v>
                </c:pt>
                <c:pt idx="7">
                  <c:v>18</c:v>
                </c:pt>
                <c:pt idx="8">
                  <c:v>19</c:v>
                </c:pt>
                <c:pt idx="9">
                  <c:v>20</c:v>
                </c:pt>
                <c:pt idx="10">
                  <c:v>21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D1F-4DA1-A112-487B80E3DB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84639216"/>
        <c:axId val="584639936"/>
      </c:scatterChart>
      <c:valAx>
        <c:axId val="5846392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Length of </a:t>
                </a:r>
                <a:r>
                  <a:rPr lang="en-US" baseline="0"/>
                  <a:t>list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0.42395002854690111"/>
              <c:y val="0.9100899931678151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639936"/>
        <c:crosses val="autoZero"/>
        <c:crossBetween val="midCat"/>
      </c:valAx>
      <c:valAx>
        <c:axId val="584639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Worst Case Scenario Operation Counts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6392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84BDA-11DE-4114-8A5D-D617199DE4FF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59AAD-AF56-4BD6-8C20-2FE9EA4CE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925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59AAD-AF56-4BD6-8C20-2FE9EA4CE50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158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59AAD-AF56-4BD6-8C20-2FE9EA4CE50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417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https://www.youtube.com/watch?v=es2T6KY45cA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59AAD-AF56-4BD6-8C20-2FE9EA4CE50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931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59AAD-AF56-4BD6-8C20-2FE9EA4CE50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302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622BD-4C3D-F5C4-9B39-387113505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4A07C1-7DFE-0DA4-F685-C54BD45B3B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0E020-DA2C-4334-0B55-0A67FC9F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CE70-E27C-4BD4-BE5E-9B65B7D9994A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E2BEB-460A-AAD5-3DA4-F0C63534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2DD2C-6AF9-FB26-391C-16C25750E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DB39D-AC59-434C-834D-EC75D40E3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274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4E164-CB98-F4F9-07CB-B33882840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EE0C4-6E97-2E0B-656D-A6E84F80E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3332B-01D0-BB4E-DE1B-5F8EC303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CE70-E27C-4BD4-BE5E-9B65B7D9994A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0FEC3-16DF-96AB-D0F5-E9A516F21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A959D-BDE1-981C-4AD1-A9BF6D9D1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DB39D-AC59-434C-834D-EC75D40E3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738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8705E-DA97-2C56-F0A7-5EA63BC8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F293E-587B-238D-9326-B8E1C3D03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7C8FB-A6E5-F9BB-3D95-C01AC27CB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CE70-E27C-4BD4-BE5E-9B65B7D9994A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7DBB5-74CC-D6D2-6880-D534F2DF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CDA9E-B538-4817-C96D-7C163397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DB39D-AC59-434C-834D-EC75D40E3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847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804F5-917E-F491-6BD3-E6D381E99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1D455-FAB7-1558-C7F9-6AB248DC3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A635F-5401-D4B6-9603-1E9FA40AD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8358F-F473-F862-F3F4-F2D9A30DC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CE70-E27C-4BD4-BE5E-9B65B7D9994A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D196C8-D733-CCAA-DB3F-11FA4173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7F451-7A03-5480-FC2D-8A1936399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DB39D-AC59-434C-834D-EC75D40E3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81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16D01-F35B-0223-4B4F-271AF4A83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2769B-FC8A-D2EA-425D-FEF5FA839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909B9-C938-D1B0-A077-EB3E87A7F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52C6D-2DA2-1DE0-8328-D2076CCC0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5ADF02-1831-6E59-5CEF-B5C17F03C1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47083A-C317-4F15-9A44-634895BBF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CE70-E27C-4BD4-BE5E-9B65B7D9994A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4B1775-6256-F6C6-8F0C-91EA40364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FFC80-0385-74A1-791D-D91A8445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DB39D-AC59-434C-834D-EC75D40E3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196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A669-FEB8-E4C4-C613-2963E3859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0D9968-17C3-38A5-A4D8-2FAEAF152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CE70-E27C-4BD4-BE5E-9B65B7D9994A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F6F1E5-E0F5-01DD-1F17-6FDAF59C8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5B3C99-95CA-8213-6F65-A14BA999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DB39D-AC59-434C-834D-EC75D40E3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160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1FD653-F128-D762-D117-77ABBD3E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CE70-E27C-4BD4-BE5E-9B65B7D9994A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B1ED9B-6C6F-9D46-9022-F806A088E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63418-7041-91C6-BBF5-64CCF02EC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DB39D-AC59-434C-834D-EC75D40E3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648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593F2-7FA7-03DF-59BA-9691593AF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91856-0A97-2A26-4741-7B12D219D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E7F0E0-8D2C-0665-0DC8-85A9BC995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4F4BF-931F-C76C-F058-335C830F9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CE70-E27C-4BD4-BE5E-9B65B7D9994A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6C28A-9848-239C-0957-64ED70F8D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9A0E2-47F0-4159-A9C6-F77D0CE7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DB39D-AC59-434C-834D-EC75D40E3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092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C30B2-44EB-030F-7FB8-F13D7DA5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3800F4-CD65-BE02-E5C2-FBC96FCDF2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D271E5-6B8C-1821-74F9-3100379A3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61CBF-A707-45B2-1197-2FCE43BBB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CE70-E27C-4BD4-BE5E-9B65B7D9994A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4A47C-90BD-0938-E914-85A6DE87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88438-6883-8B3F-89FB-72B82035C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DB39D-AC59-434C-834D-EC75D40E3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486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969C1-7EC7-EDE1-E07A-889511B37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BBEEF-5FF9-C61B-9F0E-221E4453A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1F1A6-F8CF-C2EE-6241-8358A8FF8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CE70-E27C-4BD4-BE5E-9B65B7D9994A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7E530-4EF6-BE57-1FA6-29CC58F81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E1589-7D15-700B-BAEB-7DD100A22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DB39D-AC59-434C-834D-EC75D40E3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6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6D4553-904F-85CC-6DFB-BB84EF829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F265A-5FBF-D8ED-485E-58D6477D6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0A05D-2E28-B736-FE97-DB50AC6F4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CE70-E27C-4BD4-BE5E-9B65B7D9994A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3708D-0C70-2A5E-CFF4-555D6D031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65BD2-74CC-7780-486C-8DB79681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DB39D-AC59-434C-834D-EC75D40E3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73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A1FFE2-2FC4-9B17-29D4-C6128C506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3E308-5F6C-3380-8BD0-15664371E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97A67-3C78-383F-4900-23354A7565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EACE70-E27C-4BD4-BE5E-9B65B7D9994A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795D3-679B-0DA6-6EE6-5DB149B53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22AAC-0472-C26D-5B3A-A61280AAB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6DB39D-AC59-434C-834D-EC75D40E3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00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61AA3-E786-45E7-0F2C-37719FADC4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7B16EC-4EE8-2BE4-B4A6-47D661D35B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243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AA7FA-E699-5C61-E01C-C7D5FDA5B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Recursion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98870-5935-D3AA-BBC9-406B8B83D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idea of </a:t>
            </a:r>
            <a:r>
              <a:rPr lang="en-US" altLang="zh-CN" b="1" dirty="0"/>
              <a:t>breaking the problem into similar sub-problems of the same form</a:t>
            </a:r>
          </a:p>
          <a:p>
            <a:r>
              <a:rPr lang="en-US" altLang="zh-CN" dirty="0"/>
              <a:t>When the process cannot be simplified further, we call it the </a:t>
            </a:r>
            <a:r>
              <a:rPr lang="en-US" altLang="zh-CN" b="1" dirty="0"/>
              <a:t>base case</a:t>
            </a:r>
            <a:endParaRPr lang="zh-CN" altLang="en-US" b="1" dirty="0"/>
          </a:p>
        </p:txBody>
      </p:sp>
      <p:pic>
        <p:nvPicPr>
          <p:cNvPr id="1026" name="Picture 2" descr="Matryoshka - Russian Studies ...">
            <a:extLst>
              <a:ext uri="{FF2B5EF4-FFF2-40B4-BE49-F238E27FC236}">
                <a16:creationId xmlns:a16="http://schemas.microsoft.com/office/drawing/2014/main" id="{8D37D9C5-0AC8-80B7-0FEB-55C2D2EDD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601" y="4185316"/>
            <a:ext cx="4458966" cy="212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796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591F1-8AD3-DB32-D406-767D251B4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Task: Summing the number from 0 to 10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281B9-CED5-DA75-FD36-75D442806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Solution 1: Using a for loop</a:t>
            </a:r>
          </a:p>
          <a:p>
            <a:pPr lvl="1"/>
            <a:r>
              <a:rPr lang="en-US" altLang="zh-CN" dirty="0"/>
              <a:t>for (int </a:t>
            </a:r>
            <a:r>
              <a:rPr lang="en-US" altLang="zh-CN" dirty="0" err="1"/>
              <a:t>i</a:t>
            </a:r>
            <a:r>
              <a:rPr lang="en-US" altLang="zh-CN" dirty="0"/>
              <a:t>=0;i&lt;=10;i++){count+=</a:t>
            </a:r>
            <a:r>
              <a:rPr lang="en-US" altLang="zh-CN" dirty="0" err="1"/>
              <a:t>i</a:t>
            </a:r>
            <a:r>
              <a:rPr lang="en-US" altLang="zh-CN" dirty="0"/>
              <a:t>;}</a:t>
            </a:r>
          </a:p>
          <a:p>
            <a:r>
              <a:rPr lang="en-US" altLang="zh-CN" dirty="0"/>
              <a:t>Solution 2: Using Recursion</a:t>
            </a:r>
          </a:p>
          <a:p>
            <a:pPr lvl="1"/>
            <a:r>
              <a:rPr lang="en-US" altLang="zh-CN" dirty="0"/>
              <a:t>//Sum(10)=10+sum(9)=10+9+sum(8)=…</a:t>
            </a:r>
          </a:p>
          <a:p>
            <a:pPr lvl="1"/>
            <a:r>
              <a:rPr lang="en-US" altLang="zh-CN" dirty="0"/>
              <a:t>//General formula: Sum(n) = </a:t>
            </a:r>
            <a:r>
              <a:rPr lang="en-US" altLang="zh-CN" dirty="0" err="1"/>
              <a:t>n+Sum</a:t>
            </a:r>
            <a:r>
              <a:rPr lang="en-US" altLang="zh-CN" dirty="0"/>
              <a:t>(n-1)</a:t>
            </a:r>
          </a:p>
          <a:p>
            <a:pPr lvl="1"/>
            <a:r>
              <a:rPr lang="en-US" altLang="zh-CN" dirty="0"/>
              <a:t>//When should we stop, what is our base case? </a:t>
            </a:r>
          </a:p>
          <a:p>
            <a:pPr lvl="1"/>
            <a:r>
              <a:rPr lang="en-US" altLang="zh-CN" dirty="0"/>
              <a:t>//Sum(0)</a:t>
            </a:r>
          </a:p>
          <a:p>
            <a:pPr lvl="1"/>
            <a:r>
              <a:rPr lang="en-US" altLang="zh-CN" dirty="0"/>
              <a:t>Now the full code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A2C953-7ECF-5674-8114-793514CFF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836" y="4593790"/>
            <a:ext cx="2972058" cy="19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71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B4185-C0E5-F632-0171-672EA3385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Recursive Searching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A2A84-0FCE-8624-E25B-85ED79E0D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Linear Search</a:t>
            </a:r>
          </a:p>
          <a:p>
            <a:r>
              <a:rPr lang="en-US" altLang="zh-CN" dirty="0"/>
              <a:t>Binary Search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9044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124F3-0682-E678-D407-EBAA52AE2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- linear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FC07B-543C-0925-3E79-985D16EC8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[2,3,5,7,8,15,24,158,350,351,1000]</a:t>
            </a:r>
          </a:p>
          <a:p>
            <a:r>
              <a:rPr lang="en-US" dirty="0"/>
              <a:t>What is the index of 350 in the list? </a:t>
            </a:r>
          </a:p>
          <a:p>
            <a:r>
              <a:rPr lang="en-US" dirty="0"/>
              <a:t>How many numbers did you look through to get the correct answer?</a:t>
            </a:r>
          </a:p>
          <a:p>
            <a:r>
              <a:rPr lang="en-US" dirty="0"/>
              <a:t>Best case scenario: 1 operation </a:t>
            </a:r>
          </a:p>
          <a:p>
            <a:r>
              <a:rPr lang="en-US" dirty="0"/>
              <a:t>Average case scenario: 6 operations</a:t>
            </a:r>
          </a:p>
          <a:p>
            <a:r>
              <a:rPr lang="en-US" dirty="0"/>
              <a:t>Worst case scenario: 11 operations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6B0CA37-E1DC-D2E2-4461-34F401CBDF6F}"/>
              </a:ext>
            </a:extLst>
          </p:cNvPr>
          <p:cNvGraphicFramePr>
            <a:graphicFrameLocks/>
          </p:cNvGraphicFramePr>
          <p:nvPr/>
        </p:nvGraphicFramePr>
        <p:xfrm>
          <a:off x="7130474" y="3623310"/>
          <a:ext cx="4869180" cy="3234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11881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F4B97-6D70-30A8-9A03-9BB808BAF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Case Study – Binary Search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574FD-7852-CD52-8D2E-4D44E088B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b="1" dirty="0"/>
              <a:t>1. Sort the Data </a:t>
            </a:r>
            <a:r>
              <a:rPr lang="en-US" altLang="zh-CN" dirty="0"/>
              <a:t>[2,3,5,7,8,15,24,158,350,351,1000]</a:t>
            </a:r>
          </a:p>
          <a:p>
            <a:r>
              <a:rPr lang="en-US" altLang="zh-CN" b="1" dirty="0"/>
              <a:t>2</a:t>
            </a:r>
            <a:r>
              <a:rPr lang="en-US" altLang="zh-CN" dirty="0"/>
              <a:t>. </a:t>
            </a:r>
            <a:r>
              <a:rPr lang="en-US" altLang="zh-CN" b="1" dirty="0"/>
              <a:t>Find the Middle Index</a:t>
            </a:r>
          </a:p>
          <a:p>
            <a:r>
              <a:rPr lang="en-US" altLang="zh-CN" b="1" dirty="0"/>
              <a:t>3. Compare and Eliminate:</a:t>
            </a:r>
            <a:r>
              <a:rPr lang="en-US" altLang="zh-CN" dirty="0"/>
              <a:t> Look at that middle item and compare it to your target to determine which side of the list to eliminate</a:t>
            </a:r>
          </a:p>
          <a:p>
            <a:r>
              <a:rPr lang="en-US" altLang="zh-CN" b="1" dirty="0"/>
              <a:t>4. Repeat:</a:t>
            </a:r>
            <a:r>
              <a:rPr lang="en-US" altLang="zh-CN" dirty="0"/>
              <a:t> Take the remaining, un-eliminated half of the list. Find its new middle, make the comparison, and cut the list in half again.</a:t>
            </a:r>
          </a:p>
          <a:p>
            <a:r>
              <a:rPr lang="en-US" altLang="zh-CN" b="1" dirty="0"/>
              <a:t>5.Terminate:</a:t>
            </a:r>
            <a:r>
              <a:rPr lang="en-US" altLang="zh-CN" dirty="0"/>
              <a:t> Continue this loop until you either land exactly on your target, or you run out of items to check (meaning the target does not exist in the list).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53973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2F03C-F23B-3E0B-CCEE-3ED646E60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Binary Search Time complexity &amp; Demo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7836E-C82A-67EA-89C2-3A8AE6D69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Maximize Iteration needed to find a given number using Binary Search: </a:t>
            </a:r>
            <a:r>
              <a:rPr lang="en-US" altLang="zh-CN" b="1" dirty="0"/>
              <a:t>log2​(N)</a:t>
            </a:r>
          </a:p>
          <a:p>
            <a:pPr marL="0" indent="0">
              <a:buNone/>
            </a:pPr>
            <a:endParaRPr lang="zh-CN" alt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42A1B-AE4C-66D0-7A6E-00DA1AF56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353" y="3613765"/>
            <a:ext cx="4047203" cy="26981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154E8D-932D-F5ED-E19D-53AC7D1F7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2720" y="3466436"/>
            <a:ext cx="3383280" cy="284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20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4ACA-983A-FF15-A7CC-0F528D74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Binary Search with loops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4CA93-181C-B695-1764-A97527FFA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10.2.3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2067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39103-B6B8-364E-659C-31C63473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Binary Search with Recursion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BCE7E-49B4-1F3B-5F61-CA61016CD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10.2.4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057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8AB50-8641-2E14-26EF-BB0F00BF8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Recursive Sorting 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443EE-7190-F1C9-AD21-9E92D5B96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Mergesort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2784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FD2F8-C882-9B5B-E5B9-A2346E122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 – Previous Sorting Techniques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3C08E-02F0-7290-2046-19B654382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Insertion Sort</a:t>
            </a:r>
          </a:p>
          <a:p>
            <a:r>
              <a:rPr lang="en-US" altLang="zh-CN" dirty="0"/>
              <a:t>Selection Sort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9AD14E-DCDB-5BB0-AB00-60CB8155C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2847925"/>
            <a:ext cx="5617456" cy="3209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C36446-97F7-1354-7FDA-4A7DB0D6C34A}"/>
              </a:ext>
            </a:extLst>
          </p:cNvPr>
          <p:cNvSpPr txBox="1"/>
          <p:nvPr/>
        </p:nvSpPr>
        <p:spPr>
          <a:xfrm>
            <a:off x="2408352" y="6176963"/>
            <a:ext cx="154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Selection Sort</a:t>
            </a: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298314-B055-E747-7717-D08146D60C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341" y="2990165"/>
            <a:ext cx="4819650" cy="2590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3F5E5A-0BB6-B691-13DA-36E6DA581A31}"/>
              </a:ext>
            </a:extLst>
          </p:cNvPr>
          <p:cNvSpPr txBox="1"/>
          <p:nvPr/>
        </p:nvSpPr>
        <p:spPr>
          <a:xfrm>
            <a:off x="8348190" y="6176963"/>
            <a:ext cx="15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Insertion Sort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1923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D7AB3-273C-B656-2EF1-5599AB4D7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MergeSort</a:t>
            </a:r>
            <a:endParaRPr lang="zh-CN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5DDBDF-131D-6C07-F35B-B0E796F19D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818254" y="-342391"/>
            <a:ext cx="5857492" cy="781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645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526A7-FAC6-F5E2-DA43-53B8B39FD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Important Summary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CE190-6BC2-7DB0-343C-71D453620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Number of calls to </a:t>
            </a:r>
            <a:r>
              <a:rPr lang="en-US" altLang="zh-CN" dirty="0" err="1"/>
              <a:t>MergeSort</a:t>
            </a:r>
            <a:r>
              <a:rPr lang="en-US" altLang="zh-CN" dirty="0"/>
              <a:t>: 2n-1</a:t>
            </a:r>
          </a:p>
          <a:p>
            <a:r>
              <a:rPr lang="en-US" altLang="zh-CN" dirty="0"/>
              <a:t>Number of calls to Merge: n-1</a:t>
            </a:r>
          </a:p>
          <a:p>
            <a:r>
              <a:rPr lang="en-US" altLang="zh-CN" dirty="0"/>
              <a:t>n is the number of elements in the array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8877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8B78D-1122-6B5E-531F-1FEE64502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Comparison Between Sorting Techniques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818FF2-1CD3-0AFE-F770-6B403F7E4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711" y="1915067"/>
            <a:ext cx="10552611" cy="338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143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D52119D-D523-B940-5A64-D80B51A8B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783" y="478525"/>
            <a:ext cx="4320914" cy="610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117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AA7F5-8E2B-CF1B-27AA-DA9A75200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Inheritance</a:t>
            </a:r>
            <a:endParaRPr lang="zh-CN" alt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9804682-EB4E-930C-DEA3-DB995C5E824C}"/>
              </a:ext>
            </a:extLst>
          </p:cNvPr>
          <p:cNvCxnSpPr/>
          <p:nvPr/>
        </p:nvCxnSpPr>
        <p:spPr>
          <a:xfrm>
            <a:off x="5270090" y="2418735"/>
            <a:ext cx="0" cy="5112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C222E48-55B7-3ECD-C053-05F34489E17E}"/>
              </a:ext>
            </a:extLst>
          </p:cNvPr>
          <p:cNvSpPr txBox="1"/>
          <p:nvPr/>
        </p:nvSpPr>
        <p:spPr>
          <a:xfrm>
            <a:off x="1818967" y="1690688"/>
            <a:ext cx="742335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Object Class (contains .equals() and .</a:t>
            </a:r>
            <a:r>
              <a:rPr lang="en-US" altLang="zh-CN" sz="2800" dirty="0" err="1"/>
              <a:t>toString</a:t>
            </a:r>
            <a:r>
              <a:rPr lang="en-US" altLang="zh-CN" sz="2800" dirty="0"/>
              <a:t>())</a:t>
            </a:r>
          </a:p>
          <a:p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C6CA64-7417-6F14-6A2B-F5AB39439F9A}"/>
              </a:ext>
            </a:extLst>
          </p:cNvPr>
          <p:cNvSpPr txBox="1"/>
          <p:nvPr/>
        </p:nvSpPr>
        <p:spPr>
          <a:xfrm>
            <a:off x="3921804" y="3043290"/>
            <a:ext cx="26965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All other Classes</a:t>
            </a:r>
            <a:endParaRPr lang="zh-CN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6112F5-79BE-8306-EB83-E888435D9428}"/>
              </a:ext>
            </a:extLst>
          </p:cNvPr>
          <p:cNvSpPr txBox="1"/>
          <p:nvPr/>
        </p:nvSpPr>
        <p:spPr>
          <a:xfrm>
            <a:off x="9334462" y="1690688"/>
            <a:ext cx="17924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Superclass</a:t>
            </a:r>
            <a:endParaRPr lang="zh-CN" alt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53391B-FB4A-779B-16EE-29DF701E4FEA}"/>
              </a:ext>
            </a:extLst>
          </p:cNvPr>
          <p:cNvSpPr txBox="1"/>
          <p:nvPr/>
        </p:nvSpPr>
        <p:spPr>
          <a:xfrm>
            <a:off x="9457092" y="2976921"/>
            <a:ext cx="1547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/>
              <a:t>SubClass</a:t>
            </a:r>
            <a:endParaRPr lang="zh-CN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0D34F5-7222-A5A1-74BA-7572003DCE5D}"/>
              </a:ext>
            </a:extLst>
          </p:cNvPr>
          <p:cNvSpPr txBox="1"/>
          <p:nvPr/>
        </p:nvSpPr>
        <p:spPr>
          <a:xfrm>
            <a:off x="3115560" y="3566510"/>
            <a:ext cx="45241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(Inheritance: it has access to the instance variable and </a:t>
            </a:r>
          </a:p>
          <a:p>
            <a:r>
              <a:rPr lang="en-US" altLang="zh-CN" sz="2800" dirty="0"/>
              <a:t>methods of its superclass)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9361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422</Words>
  <Application>Microsoft Office PowerPoint</Application>
  <PresentationFormat>Widescreen</PresentationFormat>
  <Paragraphs>61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等线</vt:lpstr>
      <vt:lpstr>等线 Light</vt:lpstr>
      <vt:lpstr>Arial</vt:lpstr>
      <vt:lpstr>Office Theme</vt:lpstr>
      <vt:lpstr>PowerPoint Presentation</vt:lpstr>
      <vt:lpstr>Recursion</vt:lpstr>
      <vt:lpstr>Task: Summing the number from 0 to 10</vt:lpstr>
      <vt:lpstr>Recursive Searching</vt:lpstr>
      <vt:lpstr>Case study - linear search</vt:lpstr>
      <vt:lpstr>Case Study – Binary Search</vt:lpstr>
      <vt:lpstr>Binary Search Time complexity &amp; Demo</vt:lpstr>
      <vt:lpstr>Binary Search with loops</vt:lpstr>
      <vt:lpstr>Binary Search with Recursion</vt:lpstr>
      <vt:lpstr>Recursive Sorting </vt:lpstr>
      <vt:lpstr>Review – Previous Sorting Techniques</vt:lpstr>
      <vt:lpstr>MergeSort</vt:lpstr>
      <vt:lpstr>Important Summary</vt:lpstr>
      <vt:lpstr>Comparison Between Sorting Techniques</vt:lpstr>
      <vt:lpstr>PowerPoint Presentation</vt:lpstr>
      <vt:lpstr>Inheritance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Siwen</dc:creator>
  <cp:lastModifiedBy>Wang, Siwen</cp:lastModifiedBy>
  <cp:revision>51</cp:revision>
  <dcterms:created xsi:type="dcterms:W3CDTF">2026-03-05T07:13:06Z</dcterms:created>
  <dcterms:modified xsi:type="dcterms:W3CDTF">2026-03-12T07:42:03Z</dcterms:modified>
</cp:coreProperties>
</file>